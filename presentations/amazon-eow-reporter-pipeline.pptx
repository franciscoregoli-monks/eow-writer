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3108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DE LA AUTOMATIZACIÓN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02336" y="5669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dónde pasa la data, plataforma por plataforma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02336" y="106070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único recorrido: del cambio de Status en el Sheet al borrador que revisás y reenviás.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02336" y="164592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645920"/>
            <a:ext cx="2560320" cy="50292"/>
          </a:xfrm>
          <a:prstGeom prst="roundRect">
            <a:avLst>
              <a:gd name="adj" fmla="val 36364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828800"/>
            <a:ext cx="1481328" cy="237744"/>
          </a:xfrm>
          <a:prstGeom prst="roundRect">
            <a:avLst>
              <a:gd name="adj" fmla="val 46154"/>
            </a:avLst>
          </a:prstGeom>
          <a:solidFill>
            <a:srgbClr val="E8EFEF"/>
          </a:solidFill>
          <a:ln w="12700">
            <a:solidFill>
              <a:srgbClr val="E8EFE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379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SHEETS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78024" y="1810512"/>
            <a:ext cx="274320" cy="274320"/>
          </a:xfrm>
          <a:prstGeom prst="ellipse">
            <a:avLst/>
          </a:prstGeom>
          <a:solidFill>
            <a:srgbClr val="E8EFEF"/>
          </a:solidFill>
          <a:ln w="12700">
            <a:solidFill>
              <a:srgbClr val="E8EF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78024" y="1815084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215798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 el Status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248716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Trabajás normalmente en la pestaña Tasks y movés una tarea de estado.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3035808"/>
            <a:ext cx="2231136" cy="0"/>
          </a:xfrm>
          <a:prstGeom prst="line">
            <a:avLst/>
          </a:prstGeom>
          <a:noFill/>
          <a:ln w="12700">
            <a:solidFill>
              <a:srgbClr val="CDD5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09067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80" kern="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66928" y="320040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Fila editada en Tasks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26664" y="2537460"/>
            <a:ext cx="256032" cy="0"/>
          </a:xfrm>
          <a:prstGeom prst="line">
            <a:avLst/>
          </a:prstGeom>
          <a:noFill/>
          <a:ln w="22225">
            <a:solidFill>
              <a:srgbClr val="006B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346704" y="164592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46704" y="1645920"/>
            <a:ext cx="2560320" cy="50292"/>
          </a:xfrm>
          <a:prstGeom prst="roundRect">
            <a:avLst>
              <a:gd name="adj" fmla="val 36364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11296" y="1828800"/>
            <a:ext cx="1481328" cy="237744"/>
          </a:xfrm>
          <a:prstGeom prst="roundRect">
            <a:avLst>
              <a:gd name="adj" fmla="val 46154"/>
            </a:avLst>
          </a:prstGeom>
          <a:solidFill>
            <a:srgbClr val="E8EFEF"/>
          </a:solidFill>
          <a:ln w="12700">
            <a:solidFill>
              <a:srgbClr val="E8EFE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18379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 SCRIPT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22392" y="1810512"/>
            <a:ext cx="274320" cy="274320"/>
          </a:xfrm>
          <a:prstGeom prst="ellipse">
            <a:avLst/>
          </a:prstGeom>
          <a:solidFill>
            <a:srgbClr val="E8EFEF"/>
          </a:solidFill>
          <a:ln w="12700">
            <a:solidFill>
              <a:srgbClr val="E8EF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22392" y="1815084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11296" y="215798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onEdit registra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511296" y="248716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Resuelve las columnas por nombre y agrega el evento sin tocar el maestro.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11296" y="3035808"/>
            <a:ext cx="2231136" cy="0"/>
          </a:xfrm>
          <a:prstGeom prst="line">
            <a:avLst/>
          </a:prstGeom>
          <a:noFill/>
          <a:ln w="12700">
            <a:solidFill>
              <a:srgbClr val="CDD5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11296" y="309067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80" kern="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511296" y="320040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Fila en Log de Cambios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71032" y="2537460"/>
            <a:ext cx="256032" cy="0"/>
          </a:xfrm>
          <a:prstGeom prst="line">
            <a:avLst/>
          </a:prstGeom>
          <a:noFill/>
          <a:ln w="22225">
            <a:solidFill>
              <a:srgbClr val="006B6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91072" y="164592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91072" y="1645920"/>
            <a:ext cx="2560320" cy="50292"/>
          </a:xfrm>
          <a:prstGeom prst="roundRect">
            <a:avLst>
              <a:gd name="adj" fmla="val 36364"/>
            </a:avLst>
          </a:prstGeom>
          <a:solidFill>
            <a:srgbClr val="006B68"/>
          </a:solidFill>
          <a:ln w="12700">
            <a:solidFill>
              <a:srgbClr val="006B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55664" y="1828800"/>
            <a:ext cx="1481328" cy="237744"/>
          </a:xfrm>
          <a:prstGeom prst="roundRect">
            <a:avLst>
              <a:gd name="adj" fmla="val 46154"/>
            </a:avLst>
          </a:prstGeom>
          <a:solidFill>
            <a:srgbClr val="E8EFEF"/>
          </a:solidFill>
          <a:ln w="12700">
            <a:solidFill>
              <a:srgbClr val="E8EFE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18379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ACTIONS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366760" y="1810512"/>
            <a:ext cx="274320" cy="274320"/>
          </a:xfrm>
          <a:prstGeom prst="ellipse">
            <a:avLst/>
          </a:prstGeom>
          <a:solidFill>
            <a:srgbClr val="E8EFEF"/>
          </a:solidFill>
          <a:ln w="12700">
            <a:solidFill>
              <a:srgbClr val="E8EF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1815084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55664" y="215798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Arranca el run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455664" y="248716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Cron del jueves 16:00 ART, Run workflow manual o el checkbox Control B2.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55664" y="3035808"/>
            <a:ext cx="2231136" cy="0"/>
          </a:xfrm>
          <a:prstGeom prst="line">
            <a:avLst/>
          </a:prstGeom>
          <a:noFill/>
          <a:ln w="12700">
            <a:solidFill>
              <a:srgbClr val="CDD5D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55664" y="309067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80" kern="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455664" y="320040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 con los secrets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915400" y="2537460"/>
            <a:ext cx="256032" cy="0"/>
          </a:xfrm>
          <a:prstGeom prst="line">
            <a:avLst/>
          </a:prstGeom>
          <a:noFill/>
          <a:ln w="22225">
            <a:solidFill>
              <a:srgbClr val="006B6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235440" y="164592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35440" y="1645920"/>
            <a:ext cx="2560320" cy="50292"/>
          </a:xfrm>
          <a:prstGeom prst="roundRect">
            <a:avLst>
              <a:gd name="adj" fmla="val 36364"/>
            </a:avLst>
          </a:prstGeom>
          <a:solidFill>
            <a:srgbClr val="006B68"/>
          </a:solidFill>
          <a:ln w="12700">
            <a:solidFill>
              <a:srgbClr val="006B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00032" y="1828800"/>
            <a:ext cx="1481328" cy="237744"/>
          </a:xfrm>
          <a:prstGeom prst="roundRect">
            <a:avLst>
              <a:gd name="adj" fmla="val 46154"/>
            </a:avLst>
          </a:prstGeom>
          <a:solidFill>
            <a:srgbClr val="E8EFEF"/>
          </a:solidFill>
          <a:ln w="12700">
            <a:solidFill>
              <a:srgbClr val="E8EFE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54896" y="18379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MAIN.PY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1311128" y="1810512"/>
            <a:ext cx="274320" cy="274320"/>
          </a:xfrm>
          <a:prstGeom prst="ellipse">
            <a:avLst/>
          </a:prstGeom>
          <a:solidFill>
            <a:srgbClr val="E8EFEF"/>
          </a:solidFill>
          <a:ln w="12700">
            <a:solidFill>
              <a:srgbClr val="E8EF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311128" y="1815084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400032" y="215798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Arma la semana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9400032" y="248716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 sábado a viernes, último evento por tarea y join por título normalizado.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400032" y="3035808"/>
            <a:ext cx="2231136" cy="0"/>
          </a:xfrm>
          <a:prstGeom prst="line">
            <a:avLst/>
          </a:prstGeom>
          <a:noFill/>
          <a:ln w="12700">
            <a:solidFill>
              <a:srgbClr val="CDD5D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00032" y="309067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80" kern="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9400032" y="320040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Cambios normalizados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02336" y="397764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02336" y="3977640"/>
            <a:ext cx="2560320" cy="50292"/>
          </a:xfrm>
          <a:prstGeom prst="roundRect">
            <a:avLst>
              <a:gd name="adj" fmla="val 36364"/>
            </a:avLst>
          </a:prstGeom>
          <a:solidFill>
            <a:srgbClr val="006B68"/>
          </a:solidFill>
          <a:ln w="12700">
            <a:solidFill>
              <a:srgbClr val="006B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6928" y="4160520"/>
            <a:ext cx="1481328" cy="237744"/>
          </a:xfrm>
          <a:prstGeom prst="roundRect">
            <a:avLst>
              <a:gd name="adj" fmla="val 46154"/>
            </a:avLst>
          </a:prstGeom>
          <a:solidFill>
            <a:srgbClr val="E8EFEF"/>
          </a:solidFill>
          <a:ln w="12700">
            <a:solidFill>
              <a:srgbClr val="E8EFE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4169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3.6 FLASH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478024" y="4142232"/>
            <a:ext cx="274320" cy="274320"/>
          </a:xfrm>
          <a:prstGeom prst="ellipse">
            <a:avLst/>
          </a:prstGeom>
          <a:solidFill>
            <a:srgbClr val="E8EFEF"/>
          </a:solidFill>
          <a:ln w="12700">
            <a:solidFill>
              <a:srgbClr val="E8EF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78024" y="4146804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66928" y="448970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Redacta el EOW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566928" y="481888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Sólo ve los cambios de la semana y el EOW anterior. Hasta tres intentos.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66928" y="5367528"/>
            <a:ext cx="2231136" cy="0"/>
          </a:xfrm>
          <a:prstGeom prst="line">
            <a:avLst/>
          </a:prstGeom>
          <a:noFill/>
          <a:ln w="12700">
            <a:solidFill>
              <a:srgbClr val="CDD5D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" y="54223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80" kern="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566928" y="553212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Markdown en inglés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026664" y="4869180"/>
            <a:ext cx="256032" cy="0"/>
          </a:xfrm>
          <a:prstGeom prst="line">
            <a:avLst/>
          </a:prstGeom>
          <a:noFill/>
          <a:ln w="22225">
            <a:solidFill>
              <a:srgbClr val="006B68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3346704" y="397764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46704" y="3977640"/>
            <a:ext cx="2560320" cy="50292"/>
          </a:xfrm>
          <a:prstGeom prst="roundRect">
            <a:avLst>
              <a:gd name="adj" fmla="val 36364"/>
            </a:avLst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511296" y="4160520"/>
            <a:ext cx="1481328" cy="237744"/>
          </a:xfrm>
          <a:prstGeom prst="roundRect">
            <a:avLst>
              <a:gd name="adj" fmla="val 46154"/>
            </a:avLst>
          </a:prstGeom>
          <a:solidFill>
            <a:srgbClr val="E8EFEF"/>
          </a:solidFill>
          <a:ln w="12700">
            <a:solidFill>
              <a:srgbClr val="E8EFEF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66160" y="4169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VALIDATOR.PY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422392" y="4142232"/>
            <a:ext cx="274320" cy="274320"/>
          </a:xfrm>
          <a:prstGeom prst="ellipse">
            <a:avLst/>
          </a:prstGeom>
          <a:solidFill>
            <a:srgbClr val="E8EFEF"/>
          </a:solidFill>
          <a:ln w="12700">
            <a:solidFill>
              <a:srgbClr val="E8EF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22392" y="4146804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511296" y="448970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 el formato</a:t>
            </a:r>
            <a:endParaRPr lang="en-US" sz="1350" dirty="0"/>
          </a:p>
        </p:txBody>
      </p:sp>
      <p:sp>
        <p:nvSpPr>
          <p:cNvPr id="71" name="Text 69"/>
          <p:cNvSpPr/>
          <p:nvPr/>
        </p:nvSpPr>
        <p:spPr>
          <a:xfrm>
            <a:off x="3511296" y="481888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Header, workstreams, cuentas, status permitidos, guiones y CONFIRMAR.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511296" y="5367528"/>
            <a:ext cx="2231136" cy="0"/>
          </a:xfrm>
          <a:prstGeom prst="line">
            <a:avLst/>
          </a:prstGeom>
          <a:noFill/>
          <a:ln w="12700">
            <a:solidFill>
              <a:srgbClr val="CDD5D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511296" y="54223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80" kern="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3511296" y="553212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Aprobado o hard stop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971032" y="4869180"/>
            <a:ext cx="256032" cy="0"/>
          </a:xfrm>
          <a:prstGeom prst="line">
            <a:avLst/>
          </a:prstGeom>
          <a:noFill/>
          <a:ln w="22225">
            <a:solidFill>
              <a:srgbClr val="006B68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6291072" y="397764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291072" y="3977640"/>
            <a:ext cx="2560320" cy="50292"/>
          </a:xfrm>
          <a:prstGeom prst="roundRect">
            <a:avLst>
              <a:gd name="adj" fmla="val 36364"/>
            </a:avLst>
          </a:prstGeom>
          <a:solidFill>
            <a:srgbClr val="006B68"/>
          </a:solidFill>
          <a:ln w="12700">
            <a:solidFill>
              <a:srgbClr val="006B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55664" y="4160520"/>
            <a:ext cx="1481328" cy="237744"/>
          </a:xfrm>
          <a:prstGeom prst="roundRect">
            <a:avLst>
              <a:gd name="adj" fmla="val 46154"/>
            </a:avLst>
          </a:prstGeom>
          <a:solidFill>
            <a:srgbClr val="E8EFEF"/>
          </a:solidFill>
          <a:ln w="12700">
            <a:solidFill>
              <a:srgbClr val="E8EFEF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10528" y="4169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GMAIL SMTP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8366760" y="4142232"/>
            <a:ext cx="274320" cy="274320"/>
          </a:xfrm>
          <a:prstGeom prst="ellipse">
            <a:avLst/>
          </a:prstGeom>
          <a:solidFill>
            <a:srgbClr val="E8EFEF"/>
          </a:solidFill>
          <a:ln w="12700">
            <a:solidFill>
              <a:srgbClr val="E8EF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66760" y="4146804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455664" y="448970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el draft</a:t>
            </a:r>
            <a:endParaRPr lang="en-US" sz="1350" dirty="0"/>
          </a:p>
        </p:txBody>
      </p:sp>
      <p:sp>
        <p:nvSpPr>
          <p:cNvPr id="83" name="Text 81"/>
          <p:cNvSpPr/>
          <p:nvPr/>
        </p:nvSpPr>
        <p:spPr>
          <a:xfrm>
            <a:off x="6455664" y="481888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 y commitea history/last_eow.md, después envía por STARTTLS.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455664" y="5367528"/>
            <a:ext cx="2231136" cy="0"/>
          </a:xfrm>
          <a:prstGeom prst="line">
            <a:avLst/>
          </a:prstGeom>
          <a:noFill/>
          <a:ln w="12700">
            <a:solidFill>
              <a:srgbClr val="CDD5D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55664" y="54223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80" kern="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6455664" y="553212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 a tu casilla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8915400" y="4869180"/>
            <a:ext cx="256032" cy="0"/>
          </a:xfrm>
          <a:prstGeom prst="line">
            <a:avLst/>
          </a:prstGeom>
          <a:noFill/>
          <a:ln w="22225">
            <a:solidFill>
              <a:srgbClr val="006B68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9235440" y="397764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C8F3DA"/>
          </a:solidFill>
          <a:ln w="12700">
            <a:solidFill>
              <a:srgbClr val="C8F3D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235440" y="3977640"/>
            <a:ext cx="2560320" cy="50292"/>
          </a:xfrm>
          <a:prstGeom prst="roundRect">
            <a:avLst>
              <a:gd name="adj" fmla="val 36364"/>
            </a:avLst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400032" y="4160520"/>
            <a:ext cx="1481328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454896" y="4169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VOS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1311128" y="4142232"/>
            <a:ext cx="274320" cy="274320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1311128" y="4146804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9400032" y="448970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Editás y reenviás</a:t>
            </a:r>
            <a:endParaRPr lang="en-US" sz="1350" dirty="0"/>
          </a:p>
        </p:txBody>
      </p:sp>
      <p:sp>
        <p:nvSpPr>
          <p:cNvPr id="95" name="Text 93"/>
          <p:cNvSpPr/>
          <p:nvPr/>
        </p:nvSpPr>
        <p:spPr>
          <a:xfrm>
            <a:off x="9400032" y="481888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Resolvés los CONFIRMAR y mandás el EOW final al equipo interno.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9400032" y="5367528"/>
            <a:ext cx="2231136" cy="0"/>
          </a:xfrm>
          <a:prstGeom prst="line">
            <a:avLst/>
          </a:prstGeom>
          <a:noFill/>
          <a:ln w="12700">
            <a:solidFill>
              <a:srgbClr val="9FD9B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400032" y="54223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80" kern="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9400032" y="553212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EOW enviado al equipo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10515600" y="3474720"/>
            <a:ext cx="0" cy="228600"/>
          </a:xfrm>
          <a:prstGeom prst="line">
            <a:avLst/>
          </a:prstGeom>
          <a:noFill/>
          <a:ln w="22225">
            <a:solidFill>
              <a:srgbClr val="006B6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682496" y="3703320"/>
            <a:ext cx="8833104" cy="0"/>
          </a:xfrm>
          <a:prstGeom prst="line">
            <a:avLst/>
          </a:prstGeom>
          <a:noFill/>
          <a:ln w="22225">
            <a:solidFill>
              <a:srgbClr val="006B6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682496" y="3703320"/>
            <a:ext cx="0" cy="228600"/>
          </a:xfrm>
          <a:prstGeom prst="line">
            <a:avLst/>
          </a:prstGeom>
          <a:noFill/>
          <a:ln w="22225">
            <a:solidFill>
              <a:srgbClr val="006B68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402336" y="5943600"/>
            <a:ext cx="557784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48640" y="599846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8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DISPARADORES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548640" y="6163056"/>
            <a:ext cx="5285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Cron jueves 16:00 ART · Run workflow · Control B2 opcional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6217920" y="5943600"/>
            <a:ext cx="5577840" cy="420624"/>
          </a:xfrm>
          <a:prstGeom prst="roundRect">
            <a:avLst>
              <a:gd name="adj" fmla="val 21739"/>
            </a:avLst>
          </a:prstGeom>
          <a:solidFill>
            <a:srgbClr val="FCE8C5"/>
          </a:solidFill>
          <a:ln w="12700">
            <a:solidFill>
              <a:srgbClr val="FCE8C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364224" y="599846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80" kern="0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STOPS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6364224" y="6163056"/>
            <a:ext cx="5285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cambios válidos · headers distintos · títulos duplicados · Gemini · validador · SMTP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402336" y="6428232"/>
            <a:ext cx="11384280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02336" y="6473952"/>
            <a:ext cx="5943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EOW Reporter · WWS + TCP Analytics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Monks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EOW Reporter - Pipeline</dc:title>
  <dc:subject>Data pipeline across platforms</dc:subject>
  <dc:creator>Amazon EOW Reporter project</dc:creator>
  <cp:lastModifiedBy>Amazon EOW Reporter project</cp:lastModifiedBy>
  <cp:revision>1</cp:revision>
  <dcterms:created xsi:type="dcterms:W3CDTF">2026-08-31T12:09:39Z</dcterms:created>
  <dcterms:modified xsi:type="dcterms:W3CDTF">2026-08-31T12:09:39Z</dcterms:modified>
</cp:coreProperties>
</file>