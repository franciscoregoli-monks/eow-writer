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5669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cambios en tareas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 borrador listo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revisar.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58368" y="3474720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7E0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workflow semanal que automatiza la recolección, redacción y control de calidad — sin automatizar la decisión final.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754880"/>
            <a:ext cx="1965960" cy="256032"/>
          </a:xfrm>
          <a:prstGeom prst="roundRect">
            <a:avLst>
              <a:gd name="adj" fmla="val 42857"/>
            </a:avLst>
          </a:prstGeom>
          <a:solidFill>
            <a:srgbClr val="006B68"/>
          </a:solidFill>
          <a:ln w="12700">
            <a:solidFill>
              <a:srgbClr val="006B6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6402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JUEVES · 16:00 ART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0" y="4754880"/>
            <a:ext cx="1810512" cy="256032"/>
          </a:xfrm>
          <a:prstGeom prst="roundRect">
            <a:avLst>
              <a:gd name="adj" fmla="val 42857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476402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 THE LOOP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720840" y="685800"/>
            <a:ext cx="4754880" cy="5440680"/>
          </a:xfrm>
          <a:prstGeom prst="roundRect">
            <a:avLst>
              <a:gd name="adj" fmla="val 3846"/>
            </a:avLst>
          </a:prstGeom>
          <a:solidFill>
            <a:srgbClr val="17242D"/>
          </a:solidFill>
          <a:ln w="12700">
            <a:solidFill>
              <a:srgbClr val="3A48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114300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147572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73568" y="11338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73568" y="140817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C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cambia en Sheets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61504" y="1773936"/>
            <a:ext cx="0" cy="356616"/>
          </a:xfrm>
          <a:prstGeom prst="line">
            <a:avLst/>
          </a:prstGeom>
          <a:noFill/>
          <a:ln w="15240">
            <a:solidFill>
              <a:srgbClr val="5261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2258568"/>
            <a:ext cx="566928" cy="566928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2263140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73568" y="2249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73568" y="25237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C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escribe el EOW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61504" y="2889504"/>
            <a:ext cx="0" cy="356616"/>
          </a:xfrm>
          <a:prstGeom prst="line">
            <a:avLst/>
          </a:prstGeom>
          <a:noFill/>
          <a:ln w="15240">
            <a:solidFill>
              <a:srgbClr val="5261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78040" y="3374136"/>
            <a:ext cx="566928" cy="566928"/>
          </a:xfrm>
          <a:prstGeom prst="ellipse">
            <a:avLst/>
          </a:prstGeom>
          <a:solidFill>
            <a:srgbClr val="16875B"/>
          </a:solidFill>
          <a:ln w="12700">
            <a:solidFill>
              <a:srgbClr val="1687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378708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73568" y="33649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73568" y="36393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C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validador controla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61504" y="4005072"/>
            <a:ext cx="0" cy="356616"/>
          </a:xfrm>
          <a:prstGeom prst="line">
            <a:avLst/>
          </a:prstGeom>
          <a:noFill/>
          <a:ln w="15240">
            <a:solidFill>
              <a:srgbClr val="5261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78040" y="4489704"/>
            <a:ext cx="566928" cy="566928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4494276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73568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73568" y="47548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BC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Vos editás y reenviás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633679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896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workflow concept · WWS + TCP Analytics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EL PUNTO DE PARTIDA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EOW era una cadena manual de memoria y formato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era escribir: era reconstruir qué cambió, separar cuentas y no perder contexto.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84048" cy="384048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53412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61288" y="213055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pasó durante la semana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12364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61288" y="288950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889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Tareas, estados y comentarios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384048" cy="384048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71316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61288" y="364845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3648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tracker al formato EOW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30268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1288" y="440740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WWS / TCP, tono y status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1737360"/>
            <a:ext cx="5715000" cy="3977640"/>
          </a:xfrm>
          <a:prstGeom prst="roundRect">
            <a:avLst>
              <a:gd name="adj" fmla="val 4138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2084832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0939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44768" y="2542032"/>
            <a:ext cx="4800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máquina prepara.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persona decide.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44768" y="3886200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4DE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convierte señales operativas en un borrador controlado. La revisión humana permanece justo antes de compartirlo.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44768" y="4882896"/>
            <a:ext cx="4480560" cy="0"/>
          </a:xfrm>
          <a:prstGeom prst="line">
            <a:avLst/>
          </a:prstGeom>
          <a:noFill/>
          <a:ln w="12700">
            <a:solidFill>
              <a:srgbClr val="3D4A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5074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central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992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Automatizar el trabajo repetible, no el criterio editorial.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Narrative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USER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Desde tu punto de vista son cuatro momentos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nuevas herramientas que aprender para la operación semanal.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487168" cy="33101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93976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9854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82496" y="2185416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FCE8C5"/>
          </a:solidFill>
          <a:ln w="12700">
            <a:solidFill>
              <a:srgbClr val="FCE8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21945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8096" y="29077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Actualizás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8096" y="3493008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Cambias Status en la pestaña Tasks.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72384" y="3493008"/>
            <a:ext cx="292608" cy="0"/>
          </a:xfrm>
          <a:prstGeom prst="line">
            <a:avLst/>
          </a:prstGeom>
          <a:noFill/>
          <a:ln w="20320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47288" y="1874520"/>
            <a:ext cx="2487168" cy="3310128"/>
          </a:xfrm>
          <a:prstGeom prst="roundRect">
            <a:avLst>
              <a:gd name="adj" fmla="val 5882"/>
            </a:avLst>
          </a:prstGeom>
          <a:solidFill>
            <a:srgbClr val="E8EFE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2093976"/>
            <a:ext cx="502920" cy="5029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209854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62856" y="2185416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21945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48456" y="29077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 olvidás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48456" y="3493008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Script y GitHub trabajan en segundo plano.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52744" y="3493008"/>
            <a:ext cx="292608" cy="0"/>
          </a:xfrm>
          <a:prstGeom prst="line">
            <a:avLst/>
          </a:prstGeom>
          <a:noFill/>
          <a:ln w="20320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27648" y="1874520"/>
            <a:ext cx="2487168" cy="3310128"/>
          </a:xfrm>
          <a:prstGeom prst="roundRect">
            <a:avLst>
              <a:gd name="adj" fmla="val 5882"/>
            </a:avLst>
          </a:prstGeom>
          <a:solidFill>
            <a:srgbClr val="E8EFE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2093976"/>
            <a:ext cx="502920" cy="5029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209854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43216" y="2185416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21945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28816" y="29077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Recibís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28816" y="3493008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jueves 16:00 llega el draft a tu casilla.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33104" y="3493008"/>
            <a:ext cx="292608" cy="0"/>
          </a:xfrm>
          <a:prstGeom prst="line">
            <a:avLst/>
          </a:prstGeom>
          <a:noFill/>
          <a:ln w="20320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08008" y="1874520"/>
            <a:ext cx="2487168" cy="331012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09176" y="2093976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09176" y="2098548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23576" y="2185416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FCE8C5"/>
          </a:solidFill>
          <a:ln w="12700">
            <a:solidFill>
              <a:srgbClr val="FCE8C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96728" y="219456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409176" y="290779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Revisás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409176" y="3493008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Editás y reenviás al equipo en Gmail.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5532120"/>
            <a:ext cx="10899648" cy="530352"/>
          </a:xfrm>
          <a:prstGeom prst="roundRect">
            <a:avLst>
              <a:gd name="adj" fmla="val 2069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6601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esfuerzo semanal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0" y="5623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tareas + revisar un correo.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52360" y="5623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CFD9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lo demás queda automatizado.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User experience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PLATAFORMAS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herramienta hace una sola cosa — y la hace bien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integración conecta sistemas conocidos, sin crear una aplicación nueva.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0352" cy="530352"/>
          </a:xfrm>
          <a:prstGeom prst="ellipse">
            <a:avLst/>
          </a:prstGeom>
          <a:solidFill>
            <a:srgbClr val="16875B"/>
          </a:solidFill>
          <a:ln w="12700">
            <a:solidFill>
              <a:srgbClr val="1687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7652"/>
            <a:ext cx="530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801368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81051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28032" y="17647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maestra de tareas y estados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38360" y="18013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168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SPACE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17320" y="2404872"/>
            <a:ext cx="955548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606040"/>
            <a:ext cx="530352" cy="530352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10612"/>
            <a:ext cx="530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2596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Script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624328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26334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8032" y="25877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cada cambio de Status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38360" y="262432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168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SPACE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17320" y="3227832"/>
            <a:ext cx="955548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29000"/>
            <a:ext cx="530352" cy="53035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33572"/>
            <a:ext cx="530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29000" y="3447288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45643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3410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Agenda, secretos y ejecución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38360" y="34472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SPACE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417320" y="4050792"/>
            <a:ext cx="955548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251960"/>
            <a:ext cx="530352" cy="530352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56532"/>
            <a:ext cx="530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29000" y="4270248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427939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42336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cambios en narrativa EOW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738360" y="427024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SPACE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417320" y="4873752"/>
            <a:ext cx="955548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074920"/>
            <a:ext cx="530352" cy="530352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079492"/>
            <a:ext cx="530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17320" y="5065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429000" y="5093208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02152" y="510235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8032" y="505663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personal listo para editar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738360" y="509320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SPACE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Platform map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LA FUENTE DE VERDAD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pestañas. Tres responsabilidades claras.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diseño se adaptó al tracker existente; no obliga a mantener una cuarta tabla semanal.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93392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00253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23408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715768"/>
            <a:ext cx="2880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Maestro deduplicado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Título de tarea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Account / Propiedad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Status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Categoria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Comentarios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13632" y="3337560"/>
            <a:ext cx="420624" cy="0"/>
          </a:xfrm>
          <a:prstGeom prst="line">
            <a:avLst/>
          </a:prstGeom>
          <a:noFill/>
          <a:ln w="25400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7408" y="182880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93392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E8EFEF"/>
          </a:solidFill>
          <a:ln w="12700">
            <a:solidFill>
              <a:srgbClr val="E8EFE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00253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90288" y="23408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de Cambios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0288" y="2715768"/>
            <a:ext cx="2880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append-only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Fecha y hora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Título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Estado anterior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Estado nuevo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26680" y="3337560"/>
            <a:ext cx="420624" cy="0"/>
          </a:xfrm>
          <a:prstGeom prst="line">
            <a:avLst/>
          </a:prstGeom>
          <a:noFill/>
          <a:ln w="25400">
            <a:solidFill>
              <a:srgbClr val="006B6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11312" y="182880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1993392"/>
            <a:ext cx="1078992" cy="256032"/>
          </a:xfrm>
          <a:prstGeom prst="roundRect">
            <a:avLst>
              <a:gd name="adj" fmla="val 42857"/>
            </a:avLst>
          </a:prstGeom>
          <a:solidFill>
            <a:srgbClr val="FCE8C5"/>
          </a:solidFill>
          <a:ln w="12700">
            <a:solidFill>
              <a:srgbClr val="FCE8C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00253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394192" y="234086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94192" y="2715768"/>
            <a:ext cx="2880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opcional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 = TRUE solicita un draft inmediato.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cron de las 16:00 no depende del checkbox.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614416"/>
            <a:ext cx="10863072" cy="475488"/>
          </a:xfrm>
          <a:prstGeom prst="roundRect">
            <a:avLst>
              <a:gd name="adj" fmla="val 19231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7332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clave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65960" y="5696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tiempo vive en el Log; el contexto vive en Tasks.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571500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C9D4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por título normalizado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Data model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ocurre automáticamente el jueves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6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secuencia observable, con gates explícitos y sin saltarse controles.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82630"/>
          </a:solidFill>
          <a:ln w="12700">
            <a:solidFill>
              <a:srgbClr val="3847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240280"/>
            <a:ext cx="402336" cy="402336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16:00 ART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65376" y="2834640"/>
            <a:ext cx="219456" cy="0"/>
          </a:xfrm>
          <a:prstGeom prst="line">
            <a:avLst/>
          </a:prstGeom>
          <a:noFill/>
          <a:ln w="1651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2140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82630"/>
          </a:solidFill>
          <a:ln w="12700">
            <a:solidFill>
              <a:srgbClr val="3847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8568" y="2240280"/>
            <a:ext cx="402336" cy="402336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5856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5856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+ Log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11296" y="2834640"/>
            <a:ext cx="219456" cy="0"/>
          </a:xfrm>
          <a:prstGeom prst="line">
            <a:avLst/>
          </a:prstGeom>
          <a:noFill/>
          <a:ln w="1651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6732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82630"/>
          </a:solidFill>
          <a:ln w="12700">
            <a:solidFill>
              <a:srgbClr val="3847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4488" y="2240280"/>
            <a:ext cx="402336" cy="402336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0448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0448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Último cambio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57216" y="2834640"/>
            <a:ext cx="219456" cy="0"/>
          </a:xfrm>
          <a:prstGeom prst="line">
            <a:avLst/>
          </a:prstGeom>
          <a:noFill/>
          <a:ln w="1651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1324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82630"/>
          </a:solidFill>
          <a:ln w="12700">
            <a:solidFill>
              <a:srgbClr val="3847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2240280"/>
            <a:ext cx="402336" cy="402336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040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040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5040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3.6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03136" y="2834640"/>
            <a:ext cx="219456" cy="0"/>
          </a:xfrm>
          <a:prstGeom prst="line">
            <a:avLst/>
          </a:prstGeom>
          <a:noFill/>
          <a:ln w="1651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5916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B4D49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2240280"/>
            <a:ext cx="402336" cy="402336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632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9632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9632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EOW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49056" y="2834640"/>
            <a:ext cx="219456" cy="0"/>
          </a:xfrm>
          <a:prstGeom prst="line">
            <a:avLst/>
          </a:prstGeom>
          <a:noFill/>
          <a:ln w="1651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0508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82630"/>
          </a:solidFill>
          <a:ln w="12700">
            <a:solidFill>
              <a:srgbClr val="3847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42248" y="2240280"/>
            <a:ext cx="402336" cy="402336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4224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4224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84224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last_eow.md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94976" y="2834640"/>
            <a:ext cx="219456" cy="0"/>
          </a:xfrm>
          <a:prstGeom prst="line">
            <a:avLst/>
          </a:prstGeom>
          <a:noFill/>
          <a:ln w="1651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351008" y="2057400"/>
            <a:ext cx="1371600" cy="1554480"/>
          </a:xfrm>
          <a:prstGeom prst="roundRect">
            <a:avLst>
              <a:gd name="adj" fmla="val 9333"/>
            </a:avLst>
          </a:prstGeom>
          <a:solidFill>
            <a:srgbClr val="182630"/>
          </a:solidFill>
          <a:ln w="12700">
            <a:solidFill>
              <a:srgbClr val="3847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88168" y="2240280"/>
            <a:ext cx="402336" cy="402336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88168" y="2244852"/>
            <a:ext cx="402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488168" y="2761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488168" y="30906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8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 SMTP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ZONE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31720" y="4178808"/>
            <a:ext cx="9098280" cy="0"/>
          </a:xfrm>
          <a:prstGeom prst="line">
            <a:avLst/>
          </a:prstGeom>
          <a:noFill/>
          <a:ln w="12700">
            <a:solidFill>
              <a:srgbClr val="3C4B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572000"/>
            <a:ext cx="7040880" cy="1051560"/>
          </a:xfrm>
          <a:prstGeom prst="roundRect">
            <a:avLst>
              <a:gd name="adj" fmla="val 11304"/>
            </a:avLst>
          </a:prstGeom>
          <a:solidFill>
            <a:srgbClr val="17242D"/>
          </a:solidFill>
          <a:ln w="12700">
            <a:solidFill>
              <a:srgbClr val="3D4B5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stops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874520" y="4709160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cambios válidos · headers distintos · duplicados · Gemini inválido · SMTP falla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874520" y="5093208"/>
            <a:ext cx="5321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9C5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error frena el envío — no produce un EOW silenciosamente incorrecto.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818120" y="4572000"/>
            <a:ext cx="3611880" cy="1051560"/>
          </a:xfrm>
          <a:prstGeom prst="roundRect">
            <a:avLst>
              <a:gd name="adj" fmla="val 11304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65008" y="47365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065008" y="5047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+ reenviar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4250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EB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Automation boundary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TRUST LAYER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propone. El código acepta o rechaza.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prompt define el comportamiento; validator.py hace cumplir la sintaxis.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230368" cy="4187952"/>
          </a:xfrm>
          <a:prstGeom prst="roundRect">
            <a:avLst>
              <a:gd name="adj" fmla="val 393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6654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PROMPT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96112" y="259689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0146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07592" y="25694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6112" y="300837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01294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07592" y="29809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Secciones por workstream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" y="341985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42442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07592" y="33924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WWS / TCP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" y="383133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83590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07592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bullet: [Analytics]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" y="424281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24738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07592" y="421538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permitido al final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" y="465429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65886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07592" y="46268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inventar: [CONFIRMAR]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" y="5065776"/>
            <a:ext cx="274320" cy="274320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070348"/>
            <a:ext cx="274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07592" y="50383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vs. last EOW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6112" y="550468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F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markdown profesional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1810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validator.py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00800" y="2331720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09560" y="24323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exacta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2935224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30358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Bullets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09560" y="30358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Prefijo + status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538728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09560" y="3639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em dash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4142232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4242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09560" y="42428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vacías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4745736"/>
            <a:ext cx="4617720" cy="475488"/>
          </a:xfrm>
          <a:prstGeom prst="roundRect">
            <a:avLst>
              <a:gd name="adj" fmla="val 19231"/>
            </a:avLst>
          </a:prstGeom>
          <a:solidFill>
            <a:srgbClr val="C8F3DA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09560" y="484632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Conteo 1:1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0" y="5486400"/>
            <a:ext cx="4617720" cy="45720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 w="12700">
            <a:solidFill>
              <a:srgbClr val="FCE8E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5586984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falla → retry x3 → hard stop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AI governance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EL RESULTADO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draft visible, editable y listo para reenviar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correo llega a tu casilla personal. Nunca sale directo al equipo.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681228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19072"/>
            <a:ext cx="6812280" cy="530352"/>
          </a:xfrm>
          <a:prstGeom prst="roundRect">
            <a:avLst>
              <a:gd name="adj" fmla="val 27586"/>
            </a:avLst>
          </a:prstGeom>
          <a:solidFill>
            <a:srgbClr val="E8EFEF"/>
          </a:solidFill>
          <a:ln w="12700">
            <a:solidFill>
              <a:srgbClr val="CDD5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310896" cy="31089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3337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35024" y="1819656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EOW Report - Week Ending 2026-08-28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4688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To: tu casilla personal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" y="2807208"/>
            <a:ext cx="6144768" cy="0"/>
          </a:xfrm>
          <a:prstGeom prst="line">
            <a:avLst/>
          </a:prstGeom>
          <a:noFill/>
          <a:ln w="12700">
            <a:solidFill>
              <a:srgbClr val="CDD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Consultancy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6112" y="34564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3794760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[Analytics] AI Conversational Marketing Channel [CONFIRMAR] - DONE -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" y="4617720"/>
            <a:ext cx="6126480" cy="960120"/>
          </a:xfrm>
          <a:prstGeom prst="roundRect">
            <a:avLst>
              <a:gd name="adj" fmla="val 9524"/>
            </a:avLst>
          </a:prstGeom>
          <a:solidFill>
            <a:srgbClr val="FCE8C5"/>
          </a:solidFill>
          <a:ln w="12700">
            <a:solidFill>
              <a:srgbClr val="FCE8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54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confirmation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[CONFIRMAR] Revisar notas y blockers antes del reenvío.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010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hard stop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0" y="2395728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Leer.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Editar.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Reenviar.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8028432" y="459943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automatización termina al entregar el draft. La responsabilidad editorial permanece humana.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28432" y="5605272"/>
            <a:ext cx="2331720" cy="256032"/>
          </a:xfrm>
          <a:prstGeom prst="roundRect">
            <a:avLst>
              <a:gd name="adj" fmla="val 42857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5614416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AUTO-SEND AL EQUIPO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Review-ready output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CONTROL DE RIESGO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sistema falla de forma visible y segura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 significa que algo necesita atención. No significa que se envió un reporte incorrecto.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01368"/>
            <a:ext cx="420624" cy="42062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0594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17830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87168" y="1783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Headers distintos o títulos duplicados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66760" y="1792224"/>
            <a:ext cx="2148840" cy="256032"/>
          </a:xfrm>
          <a:prstGeom prst="roundRect">
            <a:avLst>
              <a:gd name="adj" fmla="val 42857"/>
            </a:avLst>
          </a:prstGeom>
          <a:solidFill>
            <a:srgbClr val="FCE8E6"/>
          </a:solidFill>
          <a:ln w="12700">
            <a:solidFill>
              <a:srgbClr val="FCE8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180136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GEMINI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98448" y="2331720"/>
            <a:ext cx="921715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606040"/>
            <a:ext cx="420624" cy="42062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10612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98448" y="258775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87168" y="25877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cambios de Status válidos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66760" y="2596896"/>
            <a:ext cx="2148840" cy="256032"/>
          </a:xfrm>
          <a:prstGeom prst="roundRect">
            <a:avLst>
              <a:gd name="adj" fmla="val 42857"/>
            </a:avLst>
          </a:prstGeom>
          <a:solidFill>
            <a:srgbClr val="FCE8E6"/>
          </a:solidFill>
          <a:ln w="12700">
            <a:solidFill>
              <a:srgbClr val="FCE8E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26060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EMAIL VACÍO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298448" y="3136392"/>
            <a:ext cx="921715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410712"/>
            <a:ext cx="420624" cy="42062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1528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9242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87168" y="33924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API o formato inválido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3401568"/>
            <a:ext cx="2148840" cy="256032"/>
          </a:xfrm>
          <a:prstGeom prst="roundRect">
            <a:avLst>
              <a:gd name="adj" fmla="val 42857"/>
            </a:avLst>
          </a:prstGeom>
          <a:solidFill>
            <a:srgbClr val="FCE8E6"/>
          </a:solidFill>
          <a:ln w="12700">
            <a:solidFill>
              <a:srgbClr val="FCE8E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9912" y="341071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HASTA 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298448" y="3941064"/>
            <a:ext cx="921715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215384"/>
            <a:ext cx="420624" cy="42062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219956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98448" y="419709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87168" y="41970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no autentica o no responde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66760" y="4206240"/>
            <a:ext cx="2148840" cy="256032"/>
          </a:xfrm>
          <a:prstGeom prst="roundRect">
            <a:avLst>
              <a:gd name="adj" fmla="val 42857"/>
            </a:avLst>
          </a:prstGeom>
          <a:solidFill>
            <a:srgbClr val="FCE8E6"/>
          </a:solidFill>
          <a:ln w="12700">
            <a:solidFill>
              <a:srgbClr val="FCE8E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9912" y="421538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ROJO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98448" y="4745736"/>
            <a:ext cx="921715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5020056"/>
            <a:ext cx="420624" cy="42062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024628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98448" y="500176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487168" y="5001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[CONFIRMAR] pendientes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66760" y="5010912"/>
            <a:ext cx="2148840" cy="256032"/>
          </a:xfrm>
          <a:prstGeom prst="roundRect">
            <a:avLst>
              <a:gd name="adj" fmla="val 42857"/>
            </a:avLst>
          </a:prstGeom>
          <a:solidFill>
            <a:srgbClr val="FCE8C5"/>
          </a:solidFill>
          <a:ln w="12700">
            <a:solidFill>
              <a:srgbClr val="FCE8C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502005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ANTES DE FORWARD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" y="5806440"/>
            <a:ext cx="9857232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9161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37360" y="587044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 la duda, detener y mostrar — nunca completar con una suposición.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Failure behavior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SEGURIDAD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llaves viven en GitHub — no en el código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integración recibe únicamente el permiso que necesita.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063240" cy="4251960"/>
          </a:xfrm>
          <a:prstGeom prst="roundRect">
            <a:avLst>
              <a:gd name="adj" fmla="val 5373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Secrets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Vault cifrado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2907792"/>
            <a:ext cx="2514600" cy="283464"/>
          </a:xfrm>
          <a:prstGeom prst="roundRect">
            <a:avLst>
              <a:gd name="adj" fmla="val 25806"/>
            </a:avLst>
          </a:prstGeom>
          <a:solidFill>
            <a:srgbClr val="1B2A34"/>
          </a:solidFill>
          <a:ln w="12700">
            <a:solidFill>
              <a:srgbClr val="3E4C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94436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GCP_SA_KEY_BASE64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6112" y="3337560"/>
            <a:ext cx="2514600" cy="283464"/>
          </a:xfrm>
          <a:prstGeom prst="roundRect">
            <a:avLst>
              <a:gd name="adj" fmla="val 25806"/>
            </a:avLst>
          </a:prstGeom>
          <a:solidFill>
            <a:srgbClr val="1B2A34"/>
          </a:solidFill>
          <a:ln w="12700">
            <a:solidFill>
              <a:srgbClr val="3E4C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74136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SPREADSHEET_ID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96112" y="3767328"/>
            <a:ext cx="2514600" cy="283464"/>
          </a:xfrm>
          <a:prstGeom prst="roundRect">
            <a:avLst>
              <a:gd name="adj" fmla="val 25806"/>
            </a:avLst>
          </a:prstGeom>
          <a:solidFill>
            <a:srgbClr val="1B2A34"/>
          </a:solidFill>
          <a:ln w="12700">
            <a:solidFill>
              <a:srgbClr val="3E4C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80390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" y="4197096"/>
            <a:ext cx="2514600" cy="283464"/>
          </a:xfrm>
          <a:prstGeom prst="roundRect">
            <a:avLst>
              <a:gd name="adj" fmla="val 25806"/>
            </a:avLst>
          </a:prstGeom>
          <a:solidFill>
            <a:srgbClr val="1B2A34"/>
          </a:solidFill>
          <a:ln w="12700">
            <a:solidFill>
              <a:srgbClr val="3E4C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23367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EMAIL_USER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6112" y="4626864"/>
            <a:ext cx="2514600" cy="283464"/>
          </a:xfrm>
          <a:prstGeom prst="roundRect">
            <a:avLst>
              <a:gd name="adj" fmla="val 25806"/>
            </a:avLst>
          </a:prstGeom>
          <a:solidFill>
            <a:srgbClr val="1B2A34"/>
          </a:solidFill>
          <a:ln w="12700">
            <a:solidFill>
              <a:srgbClr val="3E4C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66344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EMAIL_PASSWORD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6112" y="5056632"/>
            <a:ext cx="2514600" cy="283464"/>
          </a:xfrm>
          <a:prstGeom prst="roundRect">
            <a:avLst>
              <a:gd name="adj" fmla="val 25806"/>
            </a:avLst>
          </a:prstGeom>
          <a:solidFill>
            <a:srgbClr val="1B2A34"/>
          </a:solidFill>
          <a:ln w="12700">
            <a:solidFill>
              <a:srgbClr val="3E4C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09320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E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15968" y="1874520"/>
            <a:ext cx="438912" cy="438912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1879092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92624" y="185623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99632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Account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18562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 de una Sheet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92624" y="2386584"/>
            <a:ext cx="574243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5968" y="2807208"/>
            <a:ext cx="438912" cy="438912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2811780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92624" y="278892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99632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2788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Language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92624" y="3319272"/>
            <a:ext cx="574243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3739896"/>
            <a:ext cx="438912" cy="438912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3744468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92624" y="372160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Gmail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99632" y="3721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Password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37216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del remitente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92624" y="4251960"/>
            <a:ext cx="5742432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15968" y="4672584"/>
            <a:ext cx="438912" cy="438912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4677156"/>
            <a:ext cx="4389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92624" y="465429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99632" y="46542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contents: write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1040" y="46542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history/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15968" y="5559552"/>
            <a:ext cx="6428232" cy="475488"/>
          </a:xfrm>
          <a:prstGeom prst="roundRect">
            <a:avLst>
              <a:gd name="adj" fmla="val 19231"/>
            </a:avLst>
          </a:prstGeom>
          <a:solidFill>
            <a:srgbClr val="C8F3DA"/>
          </a:solidFill>
          <a:ln w="12700">
            <a:solidFill>
              <a:srgbClr val="C8F3D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5660136"/>
            <a:ext cx="6016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secrets in code · No secrets in logs · No direct team send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Least privilege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6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LA HISTORIA DEL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diseño mejoró cada vez que tocó la realidad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fue una línea recta: cada prueba eliminó una suposición.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41248" y="3026664"/>
            <a:ext cx="10149840" cy="0"/>
          </a:xfrm>
          <a:prstGeom prst="line">
            <a:avLst/>
          </a:prstGeom>
          <a:noFill/>
          <a:ln w="25400">
            <a:solidFill>
              <a:srgbClr val="006B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770632"/>
            <a:ext cx="512064" cy="512064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fases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tab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31136" y="2770632"/>
            <a:ext cx="512064" cy="512064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8528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37944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+ 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existían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03904" y="2770632"/>
            <a:ext cx="512064" cy="512064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11296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0712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temporal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maestro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76672" y="2770632"/>
            <a:ext cx="512064" cy="512064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84064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Logger fix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por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2770632"/>
            <a:ext cx="512064" cy="512064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56832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56248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corruptos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ignoran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22208" y="2770632"/>
            <a:ext cx="512064" cy="512064"/>
          </a:xfrm>
          <a:prstGeom prst="ellipse">
            <a:avLst/>
          </a:prstGeom>
          <a:solidFill>
            <a:srgbClr val="006B68"/>
          </a:solidFill>
          <a:ln w="12700">
            <a:solidFill>
              <a:srgbClr val="006B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2208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29016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 retirado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Flash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094976" y="2770632"/>
            <a:ext cx="512064" cy="51206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277520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02368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01784" y="35021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jueves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humano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" y="4828032"/>
            <a:ext cx="10469880" cy="1024128"/>
          </a:xfrm>
          <a:prstGeom prst="roundRect">
            <a:avLst>
              <a:gd name="adj" fmla="val 12500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0474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final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94560" y="495604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estructura artificial. Más señal real. Un punto humano claro.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CDD5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Design evolution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OPERATING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hacés vos. Qué hace el sistema.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6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ritual semanal pequeño y repetible.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0" cy="40690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057400"/>
            <a:ext cx="749808" cy="256032"/>
          </a:xfrm>
          <a:prstGeom prst="roundRect">
            <a:avLst>
              <a:gd name="adj" fmla="val 42857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665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50976" y="262432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628900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6060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la semana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2889504"/>
            <a:ext cx="3493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Actualizá Status en Tasks.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50976" y="3502152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506724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483864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Jueves después de 16:00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08760" y="3767328"/>
            <a:ext cx="3493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Abrí el draft en tu inbox.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" y="4379976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384548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436168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compartir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08760" y="4645152"/>
            <a:ext cx="34930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Resolvé [CONFIRMAR], editá y reenviá.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1783080"/>
            <a:ext cx="5532120" cy="4069080"/>
          </a:xfrm>
          <a:prstGeom prst="roundRect">
            <a:avLst>
              <a:gd name="adj" fmla="val 4045"/>
            </a:avLst>
          </a:prstGeom>
          <a:solidFill>
            <a:srgbClr val="172630"/>
          </a:solidFill>
          <a:ln w="12700">
            <a:solidFill>
              <a:srgbClr val="3948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2057400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006B68"/>
          </a:solidFill>
          <a:ln w="12700">
            <a:solidFill>
              <a:srgbClr val="006B6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206654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27648" y="2697480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7020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03136" y="2706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cambios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27648" y="3355848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3604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03136" y="33649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la semana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27648" y="4014216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401878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03136" y="40233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contexto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27648" y="4672584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467715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03136" y="4681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50808" y="2697480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0808" y="27020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26296" y="2706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50808" y="3355848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0808" y="33604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226296" y="33649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750808" y="4014216"/>
            <a:ext cx="320040" cy="320040"/>
          </a:xfrm>
          <a:prstGeom prst="ellipse">
            <a:avLst/>
          </a:prstGeom>
          <a:solidFill>
            <a:srgbClr val="C8F3DA"/>
          </a:solidFill>
          <a:ln w="12700">
            <a:solidFill>
              <a:srgbClr val="C8F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50808" y="401878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26296" y="40233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27648" y="545896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algo no cierra, se detiene.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6428232"/>
            <a:ext cx="10881360" cy="0"/>
          </a:xfrm>
          <a:prstGeom prst="line">
            <a:avLst/>
          </a:prstGeom>
          <a:noFill/>
          <a:ln w="8890">
            <a:solidFill>
              <a:srgbClr val="4250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73952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EB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 · Thursday 16:00 ART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6B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8F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EOW REPORTER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6400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Predictable.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Auditable.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Human-controlled.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85800" y="4050792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F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jueves llega un primer draft. La automatización hace el trabajo repetible. Vos conservás la última palabra.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188720"/>
            <a:ext cx="3566160" cy="4251960"/>
          </a:xfrm>
          <a:prstGeom prst="roundRect">
            <a:avLst>
              <a:gd name="adj" fmla="val 5128"/>
            </a:avLst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99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BOUNDARY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805672" y="2240280"/>
            <a:ext cx="914400" cy="9144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05672" y="2244852"/>
            <a:ext cx="914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82128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62872" y="3867912"/>
            <a:ext cx="0" cy="365760"/>
          </a:xfrm>
          <a:prstGeom prst="line">
            <a:avLst/>
          </a:prstGeom>
          <a:noFill/>
          <a:ln w="25400">
            <a:solidFill>
              <a:srgbClr val="C8F3D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882128" y="44348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C8F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82128" y="4809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6309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FE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WWS + TCP Analytics · Monks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Monks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EOW Reporter</dc:title>
  <dc:subject>Human-oriented overview of the automated EOW workflow</dc:subject>
  <dc:creator>Amazon EOW Reporter project</dc:creator>
  <cp:lastModifiedBy>Amazon EOW Reporter project</cp:lastModifiedBy>
  <cp:revision>1</cp:revision>
  <dcterms:created xsi:type="dcterms:W3CDTF">2026-08-28T20:09:34Z</dcterms:created>
  <dcterms:modified xsi:type="dcterms:W3CDTF">2026-08-28T20:09:34Z</dcterms:modified>
</cp:coreProperties>
</file>